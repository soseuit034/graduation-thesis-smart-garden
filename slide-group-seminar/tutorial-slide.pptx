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78" r:id="rId4"/>
    <p:sldId id="269" r:id="rId5"/>
    <p:sldId id="279" r:id="rId6"/>
    <p:sldId id="280" r:id="rId7"/>
    <p:sldId id="281" r:id="rId8"/>
    <p:sldId id="282" r:id="rId9"/>
    <p:sldId id="283" r:id="rId10"/>
    <p:sldId id="272" r:id="rId11"/>
    <p:sldId id="262" r:id="rId12"/>
    <p:sldId id="266" r:id="rId1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66CC"/>
    <a:srgbClr val="8BBC00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67" d="100"/>
          <a:sy n="67" d="100"/>
        </p:scale>
        <p:origin x="672" y="60"/>
      </p:cViewPr>
      <p:guideLst>
        <p:guide orient="horz" pos="214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Chỗ dành sẵn cho Ngày thá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333F837E-D5E2-4BB6-9AF2-C8C9EBFD20E9}" type="datetimeFigureOut">
              <a:rPr lang="en-US"/>
              <a:pPr>
                <a:defRPr/>
              </a:pPr>
              <a:t>11/19/2016</a:t>
            </a:fld>
            <a:endParaRPr lang="en-US"/>
          </a:p>
        </p:txBody>
      </p:sp>
      <p:sp>
        <p:nvSpPr>
          <p:cNvPr id="4" name="Chỗ dành sẵn cho Hình ảnh của Bản chiế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Chỗ dành sẵn cho Ghi ch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 noProof="0" smtClean="0"/>
              <a:t>Bấm &amp; sửa kiểu tiêu đề</a:t>
            </a:r>
          </a:p>
          <a:p>
            <a:pPr lvl="1"/>
            <a:r>
              <a:rPr lang="vi-VN" noProof="0" smtClean="0"/>
              <a:t>Mức hai</a:t>
            </a:r>
          </a:p>
          <a:p>
            <a:pPr lvl="2"/>
            <a:r>
              <a:rPr lang="vi-VN" noProof="0" smtClean="0"/>
              <a:t>Mức ba</a:t>
            </a:r>
          </a:p>
          <a:p>
            <a:pPr lvl="3"/>
            <a:r>
              <a:rPr lang="vi-VN" noProof="0" smtClean="0"/>
              <a:t>Mức bốn</a:t>
            </a:r>
          </a:p>
          <a:p>
            <a:pPr lvl="4"/>
            <a:r>
              <a:rPr lang="vi-VN" noProof="0" smtClean="0"/>
              <a:t>Mức năm</a:t>
            </a:r>
            <a:endParaRPr lang="en-US" noProof="0" smtClean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Chỗ dành sẵn cho Số hiệu Bản chiế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D88F7C9-76E1-451A-AFED-EAD56B2972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759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hỗ dành sẵn cho Hình ảnh của Bản chiế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Chỗ dành sẵn cho Ghi chú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ea typeface="宋体" panose="02010600030101010101" pitchFamily="2" charset="-122"/>
            </a:endParaRPr>
          </a:p>
        </p:txBody>
      </p:sp>
      <p:sp>
        <p:nvSpPr>
          <p:cNvPr id="6148" name="Chỗ dành sẵn cho Số hiệu Bản chiếu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495938-059D-4D1D-97E1-E57F67B51E5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923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hỗ dành sẵn cho Hình ảnh của Bản chiế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Chỗ dành sẵn cho Ghi chú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ea typeface="宋体" panose="02010600030101010101" pitchFamily="2" charset="-122"/>
            </a:endParaRPr>
          </a:p>
        </p:txBody>
      </p:sp>
      <p:sp>
        <p:nvSpPr>
          <p:cNvPr id="6148" name="Chỗ dành sẵn cho Số hiệu Bản chiếu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495938-059D-4D1D-97E1-E57F67B51E5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115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ề bản chiế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演示模板底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671888" y="1485900"/>
            <a:ext cx="5470525" cy="1225550"/>
          </a:xfrm>
        </p:spPr>
        <p:txBody>
          <a:bodyPr/>
          <a:lstStyle>
            <a:lvl1pPr algn="r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671888" y="2711450"/>
            <a:ext cx="5470525" cy="546100"/>
          </a:xfrm>
        </p:spPr>
        <p:txBody>
          <a:bodyPr/>
          <a:lstStyle>
            <a:lvl1pPr marL="0" indent="0" algn="r">
              <a:buFontTx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 smtClean="0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A08C953-B93E-49B5-866C-1867956469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39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Nộ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D2DD4-D930-4C35-8A21-CC6DDCDE05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56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ầu trang của Phầ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02DB7-84AB-4972-9B17-91C76A986E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993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Nội dung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Chỗ dành sẵn cho Nội dung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3BE917-7954-42E6-B26E-51CDF63226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891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ép 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4" name="Chỗ dành sẵn cho Nội dung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5" name="Chỗ dành sẵn cho Văn bả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6" name="Chỗ dành sẵn cho Nội dung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942CD-4575-415B-938E-9650488893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08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B76EB-988D-446A-950F-5D5127174E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839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562B3-F35B-45CD-8EA0-762CA0DACF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234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ội dung với Phụ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Nội dung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Chỗ dành sẵn cho Văn bả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6B3F4-5AA4-4D3F-A53D-9B28AF94C8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35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Ảnh với Phụ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Hình ảnh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Chỗ dành sẵn cho Văn bả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6F63D-9ABE-4281-A312-240F178616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65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Dọ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E1BAC-9990-467E-BE83-21219C8363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170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Dọc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Dọc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75864-7667-41D2-9C24-CC5A64ACCB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39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演示模板底稿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fld id="{078B7E22-D7CE-4CF8-A3CB-AF5FD0B371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pitchFamily="34" charset="0"/>
          <a:ea typeface="Microsoft YaHei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ộp_Văn_Bản 7"/>
          <p:cNvSpPr txBox="1"/>
          <p:nvPr/>
        </p:nvSpPr>
        <p:spPr>
          <a:xfrm>
            <a:off x="2123728" y="548680"/>
            <a:ext cx="67323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defRPr/>
            </a:pPr>
            <a:r>
              <a:rPr lang="vi-VN" sz="4400" b="1" dirty="0">
                <a:solidFill>
                  <a:srgbClr val="FF0000"/>
                </a:solidFill>
                <a:effectLst>
                  <a:outerShdw blurRad="50800" dist="50800" algn="l" rotWithShape="0">
                    <a:prstClr val="black"/>
                  </a:outerShdw>
                </a:effectLst>
              </a:rPr>
              <a:t>Ứng dụng IoT trong xây dựng hệ thống vườn thông minh</a:t>
            </a:r>
            <a:endParaRPr lang="en-US" sz="4400" b="1" dirty="0">
              <a:solidFill>
                <a:srgbClr val="FF0000"/>
              </a:solidFill>
              <a:effectLst>
                <a:outerShdw blurRad="50800" dist="50800" algn="l" rotWithShape="0">
                  <a:prstClr val="black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_text"/>
          <p:cNvSpPr txBox="1">
            <a:spLocks/>
          </p:cNvSpPr>
          <p:nvPr/>
        </p:nvSpPr>
        <p:spPr bwMode="gray">
          <a:xfrm>
            <a:off x="744736" y="1790628"/>
            <a:ext cx="6316439" cy="1297161"/>
          </a:xfrm>
          <a:prstGeom prst="rect">
            <a:avLst/>
          </a:prstGeom>
        </p:spPr>
        <p:txBody>
          <a:bodyPr lIns="0" tIns="0" rIns="0" bIns="0" anchor="ctr"/>
          <a:lstStyle/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vi-VN" sz="2400" dirty="0"/>
              <a:t>Rau quả thuộc loại thực phẩm không thể thiếu được trong bữa ăn hàng ngày và chúng có vai trò dinh dưỡng đặc biệt quan trọng</a:t>
            </a:r>
            <a:endParaRPr lang="en-US" sz="2400" dirty="0" smtClean="0"/>
          </a:p>
        </p:txBody>
      </p:sp>
      <p:sp>
        <p:nvSpPr>
          <p:cNvPr id="25" name="Hộp_Văn_Bản 24"/>
          <p:cNvSpPr txBox="1"/>
          <p:nvPr/>
        </p:nvSpPr>
        <p:spPr>
          <a:xfrm>
            <a:off x="1475656" y="569467"/>
            <a:ext cx="58856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Rau </a:t>
            </a:r>
            <a:r>
              <a:rPr lang="en-US" sz="32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củ</a:t>
            </a:r>
            <a:r>
              <a:rPr lang="en-US" sz="32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quả</a:t>
            </a:r>
            <a:r>
              <a:rPr lang="en-US" sz="32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trong</a:t>
            </a:r>
            <a:r>
              <a:rPr lang="en-US" sz="32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bữa</a:t>
            </a:r>
            <a:r>
              <a:rPr lang="en-US" sz="32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ăn</a:t>
            </a:r>
            <a:endParaRPr lang="en-US" sz="3200" b="1" dirty="0">
              <a:solidFill>
                <a:schemeClr val="folHlink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Kết quả hình ảnh cho rau sạ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3754288"/>
            <a:ext cx="3508127" cy="263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ết quả hình ảnh cho rau trộ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751212"/>
            <a:ext cx="4165922" cy="260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_text"/>
          <p:cNvSpPr txBox="1">
            <a:spLocks/>
          </p:cNvSpPr>
          <p:nvPr/>
        </p:nvSpPr>
        <p:spPr bwMode="gray">
          <a:xfrm>
            <a:off x="5405510" y="1799086"/>
            <a:ext cx="2944317" cy="1297161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2400" dirty="0" smtClean="0"/>
              <a:t>An </a:t>
            </a:r>
            <a:r>
              <a:rPr lang="en-US" sz="2400" dirty="0" err="1" smtClean="0"/>
              <a:t>toàn</a:t>
            </a:r>
            <a:r>
              <a:rPr lang="en-US" sz="2400" dirty="0" smtClean="0"/>
              <a:t> </a:t>
            </a:r>
            <a:r>
              <a:rPr lang="en-US" sz="2400" dirty="0" err="1" smtClean="0"/>
              <a:t>vệ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phẩm</a:t>
            </a:r>
            <a:endParaRPr lang="en-US" sz="2400" dirty="0" smtClean="0"/>
          </a:p>
        </p:txBody>
      </p:sp>
      <p:sp>
        <p:nvSpPr>
          <p:cNvPr id="25" name="Hộp_Văn_Bản 24"/>
          <p:cNvSpPr txBox="1"/>
          <p:nvPr/>
        </p:nvSpPr>
        <p:spPr>
          <a:xfrm>
            <a:off x="1835675" y="512122"/>
            <a:ext cx="56166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Trồng</a:t>
            </a:r>
            <a:r>
              <a:rPr 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rau</a:t>
            </a:r>
            <a:r>
              <a:rPr 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sạch</a:t>
            </a:r>
            <a:r>
              <a:rPr 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trong</a:t>
            </a:r>
            <a:r>
              <a:rPr 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thùng</a:t>
            </a:r>
            <a:r>
              <a:rPr 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xốp</a:t>
            </a:r>
            <a:endParaRPr lang="en-US" sz="2800" b="1" dirty="0">
              <a:solidFill>
                <a:schemeClr val="folHlink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Kết quả hình ảnh cho rau hóa chấ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3960440" cy="222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ết quả hình ảnh cho rau thùng xố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894932"/>
            <a:ext cx="4107283" cy="281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_text"/>
          <p:cNvSpPr txBox="1">
            <a:spLocks/>
          </p:cNvSpPr>
          <p:nvPr/>
        </p:nvSpPr>
        <p:spPr bwMode="gray">
          <a:xfrm>
            <a:off x="755576" y="4651567"/>
            <a:ext cx="3304357" cy="1297161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2400" dirty="0" err="1" smtClean="0"/>
              <a:t>Tự</a:t>
            </a:r>
            <a:r>
              <a:rPr lang="en-US" sz="2400" dirty="0" smtClean="0"/>
              <a:t> </a:t>
            </a:r>
            <a:r>
              <a:rPr lang="en-US" sz="2400" dirty="0" err="1" smtClean="0"/>
              <a:t>trồng</a:t>
            </a:r>
            <a:r>
              <a:rPr lang="en-US" sz="2400" dirty="0" smtClean="0"/>
              <a:t> </a:t>
            </a:r>
            <a:r>
              <a:rPr lang="en-US" sz="2400" dirty="0" err="1" smtClean="0"/>
              <a:t>rau</a:t>
            </a:r>
            <a:r>
              <a:rPr lang="en-US" sz="2400" dirty="0" smtClean="0"/>
              <a:t> </a:t>
            </a:r>
            <a:r>
              <a:rPr lang="en-US" sz="2400" dirty="0" err="1" smtClean="0"/>
              <a:t>sạch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gia</a:t>
            </a:r>
            <a:r>
              <a:rPr lang="en-US" sz="2400" dirty="0" smtClean="0"/>
              <a:t> </a:t>
            </a:r>
            <a:r>
              <a:rPr lang="en-US" sz="2400" dirty="0" err="1" smtClean="0"/>
              <a:t>đình</a:t>
            </a:r>
            <a:r>
              <a:rPr lang="en-US" sz="2400" dirty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dirty="0" err="1" smtClean="0"/>
              <a:t>thùng</a:t>
            </a:r>
            <a:r>
              <a:rPr lang="en-US" sz="2400" dirty="0"/>
              <a:t> </a:t>
            </a:r>
            <a:r>
              <a:rPr lang="en-US" sz="2400" dirty="0" err="1" smtClean="0"/>
              <a:t>xốp</a:t>
            </a:r>
            <a:r>
              <a:rPr lang="en-US" sz="2400" dirty="0" smtClean="0"/>
              <a:t>, </a:t>
            </a:r>
            <a:r>
              <a:rPr lang="en-US" sz="2400" dirty="0" err="1" smtClean="0"/>
              <a:t>khay</a:t>
            </a:r>
            <a:r>
              <a:rPr lang="en-US" sz="2400" dirty="0" smtClean="0"/>
              <a:t> </a:t>
            </a:r>
            <a:r>
              <a:rPr lang="en-US" sz="2400" dirty="0" err="1" smtClean="0"/>
              <a:t>nhựa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04176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2987825" y="381327"/>
            <a:ext cx="2986834" cy="576064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Bắt</a:t>
            </a:r>
            <a:r>
              <a:rPr lang="en-US" alt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đầu</a:t>
            </a:r>
            <a:r>
              <a:rPr lang="en-US" alt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từ</a:t>
            </a:r>
            <a:r>
              <a:rPr lang="en-US" alt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en-US" sz="2800" b="1" dirty="0" err="1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đâu</a:t>
            </a:r>
            <a:r>
              <a:rPr lang="en-US" altLang="en-US" sz="2800" b="1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7175" name="Picture 7" descr="Kết quả hình ảnh cho 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367" y="957391"/>
            <a:ext cx="2074638" cy="151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ần chuẩn bị đầy đủ dụng cụ cho kỹ thuật trồng cây, rau sạch tại nhà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62" y="4418158"/>
            <a:ext cx="3306540" cy="203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ình ảnh có liên qu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418158"/>
            <a:ext cx="3730822" cy="209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Kết quả hình ảnh cho arrow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036" y="5031249"/>
            <a:ext cx="1752331" cy="113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Kết quả hình ảnh cho smart garde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792" y="2597180"/>
            <a:ext cx="2842818" cy="170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47664" y="1251842"/>
            <a:ext cx="332014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 smtClean="0"/>
              <a:t>Dụng</a:t>
            </a:r>
            <a:r>
              <a:rPr lang="en-US" sz="2000" dirty="0" smtClean="0"/>
              <a:t> </a:t>
            </a:r>
            <a:r>
              <a:rPr lang="en-US" sz="2000" dirty="0" err="1" smtClean="0"/>
              <a:t>cụ</a:t>
            </a:r>
            <a:r>
              <a:rPr lang="en-US" sz="2000" dirty="0" smtClean="0"/>
              <a:t>, </a:t>
            </a:r>
            <a:r>
              <a:rPr lang="en-US" sz="2000" dirty="0" err="1" smtClean="0"/>
              <a:t>hạt</a:t>
            </a:r>
            <a:r>
              <a:rPr lang="en-US" sz="2000" dirty="0" smtClean="0"/>
              <a:t> </a:t>
            </a:r>
            <a:r>
              <a:rPr lang="en-US" sz="2000" dirty="0" err="1" smtClean="0"/>
              <a:t>giống</a:t>
            </a:r>
            <a:r>
              <a:rPr lang="en-US" sz="2000" dirty="0" smtClean="0"/>
              <a:t>?</a:t>
            </a:r>
          </a:p>
          <a:p>
            <a:r>
              <a:rPr lang="en-US" sz="2000" dirty="0" err="1" smtClean="0"/>
              <a:t>Quy</a:t>
            </a:r>
            <a:r>
              <a:rPr lang="en-US" sz="2000" dirty="0" smtClean="0"/>
              <a:t> </a:t>
            </a:r>
            <a:r>
              <a:rPr lang="en-US" sz="2000" dirty="0" err="1" smtClean="0"/>
              <a:t>trình</a:t>
            </a:r>
            <a:r>
              <a:rPr lang="en-US" sz="2000" dirty="0"/>
              <a:t>?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Kiến</a:t>
            </a:r>
            <a:r>
              <a:rPr lang="en-US" sz="2000" dirty="0" smtClean="0"/>
              <a:t> </a:t>
            </a:r>
            <a:r>
              <a:rPr lang="en-US" sz="2000" dirty="0" err="1"/>
              <a:t>thức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nông</a:t>
            </a:r>
            <a:r>
              <a:rPr lang="en-US" sz="2000" dirty="0"/>
              <a:t> </a:t>
            </a:r>
            <a:r>
              <a:rPr lang="en-US" sz="2000" dirty="0" err="1" smtClean="0"/>
              <a:t>nghiệp</a:t>
            </a:r>
            <a:r>
              <a:rPr lang="en-US" sz="2000" dirty="0" smtClean="0"/>
              <a:t> 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endParaRPr lang="en-US" dirty="0"/>
          </a:p>
        </p:txBody>
      </p:sp>
      <p:pic>
        <p:nvPicPr>
          <p:cNvPr id="4" name="Picture 2" descr="Cần chuẩn bị đầy đủ dụng cụ cho kỹ thuật trồng cây, rau sạch tại nhà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592" y="1847829"/>
            <a:ext cx="2545484" cy="156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Hình ảnh có liên qu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480" y="4413509"/>
            <a:ext cx="2760241" cy="180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img.khoahoc.tv/photos/image/2016/02/26/trong-rau-sach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424" y="4385733"/>
            <a:ext cx="2883561" cy="183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76784" y="357966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93160" y="3948995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Lắp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14358" y="3999287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Mua</a:t>
            </a:r>
            <a:r>
              <a:rPr lang="en-US" dirty="0" smtClean="0"/>
              <a:t> ở </a:t>
            </a:r>
            <a:r>
              <a:rPr lang="en-US" dirty="0" err="1" smtClean="0"/>
              <a:t>đâu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46519" y="3653685"/>
            <a:ext cx="1561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Trồng</a:t>
            </a:r>
            <a:r>
              <a:rPr lang="en-US" dirty="0" smtClean="0"/>
              <a:t> </a:t>
            </a:r>
            <a:r>
              <a:rPr lang="en-US" dirty="0" err="1" smtClean="0"/>
              <a:t>rau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102" name="Picture 6" descr="Kết quả hình ảnh cho các loại ra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587" y="1845572"/>
            <a:ext cx="3112603" cy="1753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66" y="333450"/>
            <a:ext cx="1812980" cy="128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0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đất</a:t>
            </a:r>
            <a:r>
              <a:rPr lang="en-US" dirty="0" smtClean="0"/>
              <a:t>, </a:t>
            </a:r>
            <a:r>
              <a:rPr lang="en-US" dirty="0" err="1" smtClean="0"/>
              <a:t>gieo</a:t>
            </a:r>
            <a:r>
              <a:rPr lang="en-US" dirty="0" smtClean="0"/>
              <a:t> </a:t>
            </a:r>
            <a:r>
              <a:rPr lang="en-US" dirty="0" err="1" smtClean="0"/>
              <a:t>hạt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86575" y="335229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đất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14525" y="6200161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Gieo</a:t>
            </a:r>
            <a:r>
              <a:rPr lang="en-US" dirty="0" smtClean="0"/>
              <a:t> </a:t>
            </a:r>
            <a:r>
              <a:rPr lang="en-US" dirty="0" err="1" smtClean="0"/>
              <a:t>hạt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26796" y="6300350"/>
            <a:ext cx="2379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Ngâm</a:t>
            </a:r>
            <a:r>
              <a:rPr lang="en-US" dirty="0" smtClean="0"/>
              <a:t> ủ </a:t>
            </a:r>
            <a:r>
              <a:rPr lang="en-US" dirty="0" err="1" smtClean="0"/>
              <a:t>hạt</a:t>
            </a:r>
            <a:r>
              <a:rPr lang="en-US" dirty="0" smtClean="0"/>
              <a:t> </a:t>
            </a:r>
            <a:r>
              <a:rPr lang="en-US" dirty="0" err="1" smtClean="0"/>
              <a:t>giống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66" y="333450"/>
            <a:ext cx="1812980" cy="1280243"/>
          </a:xfrm>
          <a:prstGeom prst="rect">
            <a:avLst/>
          </a:prstGeom>
        </p:spPr>
      </p:pic>
      <p:pic>
        <p:nvPicPr>
          <p:cNvPr id="5122" name="Picture 2" descr="Tất tần tật các mẹo trồng rau trong thùng xốp để có vườn rau xanh mơn mở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907" y="1539330"/>
            <a:ext cx="2598186" cy="173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ạt giống được ngâm đúng kỹ thuật trồng cây sẽ có tỉ lệ nảy mầm cao hơn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50" y="3801191"/>
            <a:ext cx="2992395" cy="224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Kết quả hình ảnh cho gieo hạt rau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2" t="154" r="23220" b="-154"/>
          <a:stretch/>
        </p:blipFill>
        <p:spPr bwMode="auto">
          <a:xfrm>
            <a:off x="5508104" y="3721629"/>
            <a:ext cx="2869542" cy="227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30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19755"/>
            <a:ext cx="8229600" cy="1143000"/>
          </a:xfrm>
        </p:spPr>
        <p:txBody>
          <a:bodyPr/>
          <a:lstStyle/>
          <a:p>
            <a:r>
              <a:rPr lang="en-US" dirty="0" err="1" smtClean="0"/>
              <a:t>Chăm</a:t>
            </a:r>
            <a:r>
              <a:rPr lang="en-US" dirty="0" smtClean="0"/>
              <a:t> </a:t>
            </a:r>
            <a:r>
              <a:rPr lang="en-US" dirty="0" err="1" smtClean="0"/>
              <a:t>sóc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19234" y="5286953"/>
            <a:ext cx="43588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ự</a:t>
            </a:r>
            <a:r>
              <a:rPr lang="en-US" dirty="0" smtClean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 smtClean="0"/>
              <a:t>tưới</a:t>
            </a:r>
            <a:r>
              <a:rPr lang="en-US" dirty="0" smtClean="0"/>
              <a:t>,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dinh</a:t>
            </a:r>
            <a:r>
              <a:rPr lang="en-US" dirty="0"/>
              <a:t> </a:t>
            </a:r>
            <a:r>
              <a:rPr lang="en-US" dirty="0" err="1" smtClean="0"/>
              <a:t>dưỡng</a:t>
            </a:r>
            <a:endParaRPr lang="en-US" dirty="0" smtClean="0"/>
          </a:p>
          <a:p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/>
              <a:t>chủng</a:t>
            </a:r>
            <a:r>
              <a:rPr lang="en-US" dirty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rau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 smtClean="0"/>
              <a:t>ẩm</a:t>
            </a:r>
            <a:endParaRPr lang="en-US" dirty="0"/>
          </a:p>
          <a:p>
            <a:r>
              <a:rPr lang="en-US" dirty="0" err="1" smtClean="0"/>
              <a:t>nhiệt</a:t>
            </a:r>
            <a:r>
              <a:rPr lang="en-US" dirty="0" smtClean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tiết</a:t>
            </a:r>
            <a:endParaRPr lang="en-US" dirty="0"/>
          </a:p>
        </p:txBody>
      </p:sp>
      <p:pic>
        <p:nvPicPr>
          <p:cNvPr id="6146" name="Picture 2" descr="Kết quả hình ảnh cho automat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2497"/>
            <a:ext cx="1543570" cy="95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Kết quả hình ảnh cho arduin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59" y="1760959"/>
            <a:ext cx="1772688" cy="177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ình ảnh có liên qu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98341"/>
            <a:ext cx="1391163" cy="139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Hình ảnh có liên qua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640" y="1915087"/>
            <a:ext cx="5110074" cy="287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Kết quả hình ảnh cho ban r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892249"/>
            <a:ext cx="2976265" cy="153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17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219493"/>
            <a:ext cx="8229600" cy="1143000"/>
          </a:xfrm>
        </p:spPr>
        <p:txBody>
          <a:bodyPr/>
          <a:lstStyle/>
          <a:p>
            <a:r>
              <a:rPr lang="en-US" dirty="0" smtClean="0"/>
              <a:t>Theo </a:t>
            </a:r>
            <a:r>
              <a:rPr lang="en-US" dirty="0" err="1" smtClean="0"/>
              <a:t>dõi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xa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07904" y="5031767"/>
            <a:ext cx="5128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ẩm</a:t>
            </a:r>
            <a:r>
              <a:rPr lang="en-US" sz="2400" dirty="0"/>
              <a:t>, </a:t>
            </a:r>
            <a:r>
              <a:rPr lang="en-US" sz="2400" dirty="0" err="1"/>
              <a:t>nhiệt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, </a:t>
            </a:r>
            <a:r>
              <a:rPr lang="en-US" sz="2400" dirty="0" err="1"/>
              <a:t>ánh</a:t>
            </a:r>
            <a:r>
              <a:rPr lang="en-US" sz="2400" dirty="0"/>
              <a:t> </a:t>
            </a:r>
            <a:r>
              <a:rPr lang="en-US" sz="2400" dirty="0" err="1" smtClean="0"/>
              <a:t>sáng</a:t>
            </a:r>
            <a:r>
              <a:rPr lang="en-US" sz="2400" dirty="0"/>
              <a:t>, </a:t>
            </a:r>
            <a:r>
              <a:rPr lang="en-US" sz="2400" dirty="0" err="1" smtClean="0"/>
              <a:t>mưa</a:t>
            </a:r>
            <a:r>
              <a:rPr lang="en-US" sz="2400" dirty="0" smtClean="0"/>
              <a:t>,</a:t>
            </a:r>
          </a:p>
          <a:p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trồng</a:t>
            </a:r>
            <a:r>
              <a:rPr lang="en-US" sz="2400" dirty="0"/>
              <a:t>, </a:t>
            </a:r>
            <a:r>
              <a:rPr lang="en-US" sz="2400" dirty="0" err="1"/>
              <a:t>giai</a:t>
            </a:r>
            <a:r>
              <a:rPr lang="en-US" sz="2400" dirty="0"/>
              <a:t> </a:t>
            </a:r>
            <a:r>
              <a:rPr lang="en-US" sz="2400" dirty="0" err="1"/>
              <a:t>đoạn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, </a:t>
            </a:r>
          </a:p>
          <a:p>
            <a:r>
              <a:rPr lang="en-US" sz="2400" dirty="0" smtClean="0"/>
              <a:t>(</a:t>
            </a:r>
            <a:r>
              <a:rPr lang="en-US" sz="2400" dirty="0" err="1" smtClean="0"/>
              <a:t>hình</a:t>
            </a:r>
            <a:r>
              <a:rPr lang="en-US" sz="2400" dirty="0" smtClean="0"/>
              <a:t>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tế</a:t>
            </a:r>
            <a:r>
              <a:rPr lang="en-US" sz="2400" dirty="0" smtClean="0"/>
              <a:t>) ?</a:t>
            </a:r>
            <a:endParaRPr lang="en-US" sz="2400" dirty="0"/>
          </a:p>
        </p:txBody>
      </p:sp>
      <p:pic>
        <p:nvPicPr>
          <p:cNvPr id="2050" name="Picture 2" descr="Kết quả hình ảnh cho smartphone smart gard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969" y="1579975"/>
            <a:ext cx="4692849" cy="297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Kết quả hình ảnh cho io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85" y="2360296"/>
            <a:ext cx="2307819" cy="164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ết quả hình ảnh cho giám sá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19" y="448709"/>
            <a:ext cx="1968153" cy="131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59" y="4743615"/>
            <a:ext cx="2115869" cy="11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8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278433"/>
            <a:ext cx="8229600" cy="1143000"/>
          </a:xfrm>
        </p:spPr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53013" y="5108991"/>
            <a:ext cx="3315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Giai</a:t>
            </a:r>
            <a:r>
              <a:rPr lang="en-US" sz="2400" dirty="0" smtClean="0"/>
              <a:t> </a:t>
            </a:r>
            <a:r>
              <a:rPr lang="en-US" sz="2400" dirty="0" err="1" smtClean="0"/>
              <a:t>đoạn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endParaRPr lang="en-US" sz="2400" dirty="0" smtClean="0"/>
          </a:p>
          <a:p>
            <a:r>
              <a:rPr lang="en-US" sz="2400" dirty="0" err="1" smtClean="0"/>
              <a:t>sâu</a:t>
            </a:r>
            <a:r>
              <a:rPr lang="en-US" sz="2400" dirty="0" smtClean="0"/>
              <a:t> </a:t>
            </a:r>
            <a:r>
              <a:rPr lang="en-US" sz="2400" dirty="0" err="1" smtClean="0"/>
              <a:t>bệnh</a:t>
            </a:r>
            <a:r>
              <a:rPr lang="en-US" sz="2400" dirty="0" smtClean="0"/>
              <a:t> </a:t>
            </a:r>
            <a:r>
              <a:rPr lang="en-US" sz="2400" dirty="0" err="1" smtClean="0"/>
              <a:t>thường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gặp</a:t>
            </a:r>
            <a:r>
              <a:rPr lang="en-US" sz="2400" dirty="0" smtClean="0"/>
              <a:t>, </a:t>
            </a:r>
            <a:br>
              <a:rPr lang="en-US" sz="2400" dirty="0" smtClean="0"/>
            </a:br>
            <a:r>
              <a:rPr lang="en-US" sz="2400" dirty="0" err="1"/>
              <a:t>d</a:t>
            </a:r>
            <a:r>
              <a:rPr lang="en-US" sz="2400" dirty="0" err="1" smtClean="0"/>
              <a:t>inh</a:t>
            </a:r>
            <a:r>
              <a:rPr lang="en-US" sz="2400" dirty="0" smtClean="0"/>
              <a:t> </a:t>
            </a:r>
            <a:r>
              <a:rPr lang="en-US" sz="2400" dirty="0" err="1" smtClean="0"/>
              <a:t>dưỡng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endParaRPr lang="en-US" sz="2400" dirty="0"/>
          </a:p>
        </p:txBody>
      </p:sp>
      <p:pic>
        <p:nvPicPr>
          <p:cNvPr id="3074" name="Picture 2" descr="Hình ảnh có liên qu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59" y="510927"/>
            <a:ext cx="2115869" cy="105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Kết quả hình ảnh cho sâu bệnh ra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" y="4653136"/>
            <a:ext cx="2270720" cy="170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Kết quả hình ảnh cho cloud io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84" y="1860296"/>
            <a:ext cx="2321362" cy="232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Kết quả hình ảnh cho notifi smart garde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272" y="1567150"/>
            <a:ext cx="4070239" cy="325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34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1"/>
          <p:cNvGrpSpPr/>
          <p:nvPr/>
        </p:nvGrpSpPr>
        <p:grpSpPr>
          <a:xfrm rot="4000420" flipV="1">
            <a:off x="3636955" y="1764167"/>
            <a:ext cx="2666142" cy="2509893"/>
            <a:chOff x="3350030" y="2070161"/>
            <a:chExt cx="3143249" cy="2959039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7" name="Trapezoid 3"/>
            <p:cNvSpPr/>
            <p:nvPr/>
          </p:nvSpPr>
          <p:spPr>
            <a:xfrm rot="60000">
              <a:off x="4210050" y="4419600"/>
              <a:ext cx="1371600" cy="609600"/>
            </a:xfrm>
            <a:prstGeom prst="trapezoid">
              <a:avLst>
                <a:gd name="adj" fmla="val 45313"/>
              </a:avLst>
            </a:prstGeom>
            <a:gradFill flip="none" rotWithShape="1">
              <a:gsLst>
                <a:gs pos="0">
                  <a:srgbClr val="1F497D">
                    <a:lumMod val="75000"/>
                    <a:shade val="30000"/>
                    <a:satMod val="115000"/>
                  </a:srgbClr>
                </a:gs>
                <a:gs pos="50000">
                  <a:srgbClr val="1F497D">
                    <a:lumMod val="75000"/>
                    <a:shade val="67500"/>
                    <a:satMod val="115000"/>
                  </a:srgbClr>
                </a:gs>
                <a:gs pos="100000">
                  <a:srgbClr val="1F497D">
                    <a:lumMod val="75000"/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prstClr val="white"/>
                </a:solidFill>
                <a:latin typeface="Calibri"/>
                <a:ea typeface="+mn-ea"/>
              </a:endParaRPr>
            </a:p>
          </p:txBody>
        </p:sp>
        <p:sp>
          <p:nvSpPr>
            <p:cNvPr id="8" name="Trapezoid 4"/>
            <p:cNvSpPr/>
            <p:nvPr/>
          </p:nvSpPr>
          <p:spPr>
            <a:xfrm rot="-2880000">
              <a:off x="5181200" y="3990200"/>
              <a:ext cx="1371600" cy="609600"/>
            </a:xfrm>
            <a:prstGeom prst="trapezoid">
              <a:avLst>
                <a:gd name="adj" fmla="val 45313"/>
              </a:avLst>
            </a:prstGeom>
            <a:gradFill flip="none" rotWithShape="1">
              <a:gsLst>
                <a:gs pos="0">
                  <a:srgbClr val="9BBB59">
                    <a:lumMod val="75000"/>
                    <a:shade val="30000"/>
                    <a:satMod val="115000"/>
                  </a:srgbClr>
                </a:gs>
                <a:gs pos="50000">
                  <a:srgbClr val="9BBB59">
                    <a:lumMod val="75000"/>
                    <a:shade val="67500"/>
                    <a:satMod val="115000"/>
                  </a:srgbClr>
                </a:gs>
                <a:gs pos="100000">
                  <a:srgbClr val="9BBB59">
                    <a:lumMod val="75000"/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prstClr val="white"/>
                </a:solidFill>
                <a:latin typeface="Calibri"/>
                <a:ea typeface="+mn-ea"/>
              </a:endParaRPr>
            </a:p>
          </p:txBody>
        </p:sp>
        <p:sp>
          <p:nvSpPr>
            <p:cNvPr id="9" name="Trapezoid 5"/>
            <p:cNvSpPr/>
            <p:nvPr/>
          </p:nvSpPr>
          <p:spPr>
            <a:xfrm rot="-5880000">
              <a:off x="5502679" y="2969446"/>
              <a:ext cx="1371600" cy="609600"/>
            </a:xfrm>
            <a:prstGeom prst="trapezoid">
              <a:avLst>
                <a:gd name="adj" fmla="val 45313"/>
              </a:avLst>
            </a:prstGeom>
            <a:gradFill flip="none" rotWithShape="1">
              <a:gsLst>
                <a:gs pos="0">
                  <a:srgbClr val="8064A2">
                    <a:lumMod val="75000"/>
                    <a:shade val="30000"/>
                    <a:satMod val="115000"/>
                  </a:srgbClr>
                </a:gs>
                <a:gs pos="50000">
                  <a:srgbClr val="8064A2">
                    <a:lumMod val="75000"/>
                    <a:shade val="67500"/>
                    <a:satMod val="115000"/>
                  </a:srgbClr>
                </a:gs>
                <a:gs pos="100000">
                  <a:srgbClr val="8064A2">
                    <a:lumMod val="75000"/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prstClr val="white"/>
                </a:solidFill>
                <a:latin typeface="Calibri"/>
                <a:ea typeface="+mn-ea"/>
              </a:endParaRPr>
            </a:p>
          </p:txBody>
        </p:sp>
        <p:sp>
          <p:nvSpPr>
            <p:cNvPr id="10" name="Trapezoid 6"/>
            <p:cNvSpPr/>
            <p:nvPr/>
          </p:nvSpPr>
          <p:spPr>
            <a:xfrm rot="12760420">
              <a:off x="4921250" y="2070161"/>
              <a:ext cx="1371600" cy="609600"/>
            </a:xfrm>
            <a:prstGeom prst="trapezoid">
              <a:avLst>
                <a:gd name="adj" fmla="val 45313"/>
              </a:avLst>
            </a:prstGeom>
            <a:gradFill flip="none" rotWithShape="1">
              <a:gsLst>
                <a:gs pos="0">
                  <a:srgbClr val="F79646">
                    <a:lumMod val="75000"/>
                    <a:shade val="30000"/>
                    <a:satMod val="115000"/>
                  </a:srgbClr>
                </a:gs>
                <a:gs pos="50000">
                  <a:srgbClr val="F79646">
                    <a:lumMod val="75000"/>
                    <a:shade val="67500"/>
                    <a:satMod val="115000"/>
                  </a:srgbClr>
                </a:gs>
                <a:gs pos="100000">
                  <a:srgbClr val="F79646">
                    <a:lumMod val="75000"/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prstClr val="white"/>
                </a:solidFill>
                <a:latin typeface="Calibri"/>
                <a:ea typeface="+mn-ea"/>
              </a:endParaRPr>
            </a:p>
          </p:txBody>
        </p:sp>
        <p:sp>
          <p:nvSpPr>
            <p:cNvPr id="11" name="Trapezoid 8"/>
            <p:cNvSpPr/>
            <p:nvPr/>
          </p:nvSpPr>
          <p:spPr>
            <a:xfrm rot="3000000" flipH="1">
              <a:off x="3257149" y="3952100"/>
              <a:ext cx="1371600" cy="609600"/>
            </a:xfrm>
            <a:prstGeom prst="trapezoid">
              <a:avLst>
                <a:gd name="adj" fmla="val 45313"/>
              </a:avLst>
            </a:prstGeom>
            <a:gradFill flip="none" rotWithShape="1">
              <a:gsLst>
                <a:gs pos="0">
                  <a:srgbClr val="C0504D">
                    <a:lumMod val="75000"/>
                    <a:shade val="30000"/>
                    <a:satMod val="115000"/>
                  </a:srgbClr>
                </a:gs>
                <a:gs pos="50000">
                  <a:srgbClr val="C0504D">
                    <a:lumMod val="75000"/>
                    <a:shade val="67500"/>
                    <a:satMod val="115000"/>
                  </a:srgbClr>
                </a:gs>
                <a:gs pos="100000">
                  <a:srgbClr val="C0504D">
                    <a:lumMod val="75000"/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prstClr val="white"/>
                </a:solidFill>
                <a:latin typeface="Calibri"/>
                <a:ea typeface="+mn-ea"/>
              </a:endParaRPr>
            </a:p>
          </p:txBody>
        </p:sp>
        <p:sp>
          <p:nvSpPr>
            <p:cNvPr id="12" name="Trapezoid 9"/>
            <p:cNvSpPr/>
            <p:nvPr/>
          </p:nvSpPr>
          <p:spPr>
            <a:xfrm rot="5940000" flipH="1">
              <a:off x="2969030" y="2936054"/>
              <a:ext cx="1371600" cy="609600"/>
            </a:xfrm>
            <a:prstGeom prst="trapezoid">
              <a:avLst>
                <a:gd name="adj" fmla="val 45313"/>
              </a:avLst>
            </a:prstGeom>
            <a:gradFill flip="none" rotWithShape="1">
              <a:gsLst>
                <a:gs pos="0">
                  <a:srgbClr val="EEECE1">
                    <a:lumMod val="50000"/>
                    <a:shade val="30000"/>
                    <a:satMod val="115000"/>
                  </a:srgbClr>
                </a:gs>
                <a:gs pos="50000">
                  <a:srgbClr val="EEECE1">
                    <a:lumMod val="50000"/>
                    <a:shade val="67500"/>
                    <a:satMod val="115000"/>
                  </a:srgbClr>
                </a:gs>
                <a:gs pos="100000">
                  <a:srgbClr val="EEECE1">
                    <a:lumMod val="50000"/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prstClr val="white"/>
                </a:solidFill>
                <a:latin typeface="Calibri"/>
                <a:ea typeface="+mn-ea"/>
              </a:endParaRPr>
            </a:p>
          </p:txBody>
        </p:sp>
      </p:grpSp>
      <p:sp>
        <p:nvSpPr>
          <p:cNvPr id="13" name="Right Arrow 12"/>
          <p:cNvSpPr/>
          <p:nvPr/>
        </p:nvSpPr>
        <p:spPr>
          <a:xfrm>
            <a:off x="3298825" y="2192338"/>
            <a:ext cx="1422400" cy="1679575"/>
          </a:xfrm>
          <a:prstGeom prst="rightArrow">
            <a:avLst>
              <a:gd name="adj1" fmla="val 50000"/>
              <a:gd name="adj2" fmla="val 89205"/>
            </a:avLst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prstClr val="white"/>
              </a:solidFill>
              <a:latin typeface="Calibri"/>
              <a:ea typeface="+mn-ea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92300" y="2611438"/>
            <a:ext cx="1357313" cy="841375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prstClr val="white"/>
              </a:solidFill>
              <a:latin typeface="Calibri"/>
              <a:ea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85913" y="2611438"/>
            <a:ext cx="258762" cy="841375"/>
          </a:xfrm>
          <a:prstGeom prst="rect">
            <a:avLst/>
          </a:prstGeom>
          <a:solidFill>
            <a:srgbClr val="EEECE1">
              <a:lumMod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prstClr val="white"/>
              </a:solidFill>
              <a:latin typeface="Calibri"/>
              <a:ea typeface="+mn-e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58900" y="2611438"/>
            <a:ext cx="177800" cy="841375"/>
          </a:xfrm>
          <a:prstGeom prst="rect">
            <a:avLst/>
          </a:prstGeom>
          <a:solidFill>
            <a:srgbClr val="EEECE1">
              <a:lumMod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prstClr val="white"/>
              </a:solidFill>
              <a:latin typeface="Calibri"/>
              <a:ea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30313" y="2611438"/>
            <a:ext cx="80962" cy="841375"/>
          </a:xfrm>
          <a:prstGeom prst="rect">
            <a:avLst/>
          </a:prstGeom>
          <a:solidFill>
            <a:srgbClr val="EEECE1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prstClr val="white"/>
              </a:solidFill>
              <a:latin typeface="Calibri"/>
              <a:ea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34462" y="1293813"/>
            <a:ext cx="31337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, </a:t>
            </a:r>
            <a:r>
              <a:rPr lang="en-US" sz="2000" dirty="0" err="1"/>
              <a:t>thông</a:t>
            </a:r>
            <a:r>
              <a:rPr lang="en-US" sz="2000" dirty="0"/>
              <a:t> minh</a:t>
            </a:r>
            <a:endParaRPr lang="en-US" sz="2000" i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3550" y="2747963"/>
            <a:ext cx="16938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solidFill>
                  <a:prstClr val="whit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Ưu</a:t>
            </a:r>
            <a:r>
              <a:rPr lang="en-US" sz="2400" b="1" dirty="0">
                <a:solidFill>
                  <a:prstClr val="whit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prstClr val="whit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điểm</a:t>
            </a:r>
            <a:endParaRPr lang="en-US" sz="2400" b="1" dirty="0">
              <a:solidFill>
                <a:prstClr val="white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" name="Hộp_Văn_Bản 2"/>
          <p:cNvSpPr txBox="1"/>
          <p:nvPr/>
        </p:nvSpPr>
        <p:spPr>
          <a:xfrm>
            <a:off x="3760788" y="390525"/>
            <a:ext cx="1738312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ƯU ĐIỂM</a:t>
            </a:r>
          </a:p>
        </p:txBody>
      </p:sp>
      <p:sp>
        <p:nvSpPr>
          <p:cNvPr id="28" name="TextBox 17"/>
          <p:cNvSpPr txBox="1"/>
          <p:nvPr/>
        </p:nvSpPr>
        <p:spPr>
          <a:xfrm>
            <a:off x="6345814" y="3330212"/>
            <a:ext cx="203993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kiệm</a:t>
            </a:r>
            <a:r>
              <a:rPr lang="en-US" sz="2000" dirty="0"/>
              <a:t> chi </a:t>
            </a:r>
            <a:r>
              <a:rPr lang="en-US" sz="2000" dirty="0" err="1"/>
              <a:t>phí</a:t>
            </a:r>
            <a:endParaRPr lang="en-US" sz="2000" i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11276" name="TextBox 17"/>
          <p:cNvSpPr txBox="1">
            <a:spLocks noChangeArrowheads="1"/>
          </p:cNvSpPr>
          <p:nvPr/>
        </p:nvSpPr>
        <p:spPr bwMode="auto">
          <a:xfrm>
            <a:off x="3094435" y="4883847"/>
            <a:ext cx="480932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2000" dirty="0" err="1"/>
              <a:t>Đáp</a:t>
            </a:r>
            <a:r>
              <a:rPr lang="en-US" sz="2000" dirty="0"/>
              <a:t> </a:t>
            </a: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nhu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 smtClean="0"/>
              <a:t>xuất</a:t>
            </a:r>
            <a:endParaRPr lang="en-US" sz="2000" dirty="0" smtClean="0"/>
          </a:p>
          <a:p>
            <a:pPr algn="ctr" eaLnBrk="1" hangingPunct="1"/>
            <a:r>
              <a:rPr lang="en-US" sz="2000" dirty="0" err="1" smtClean="0"/>
              <a:t>rau</a:t>
            </a:r>
            <a:r>
              <a:rPr lang="en-US" sz="2000" dirty="0" smtClean="0"/>
              <a:t> </a:t>
            </a:r>
            <a:r>
              <a:rPr lang="en-US" sz="2000" dirty="0" err="1"/>
              <a:t>sạch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gia</a:t>
            </a:r>
            <a:r>
              <a:rPr lang="en-US" sz="2000" dirty="0"/>
              <a:t> </a:t>
            </a:r>
            <a:r>
              <a:rPr lang="en-US" sz="2000" dirty="0" err="1"/>
              <a:t>đình</a:t>
            </a:r>
            <a:endParaRPr lang="en-US" altLang="en-US" sz="2000" dirty="0"/>
          </a:p>
        </p:txBody>
      </p:sp>
      <p:sp>
        <p:nvSpPr>
          <p:cNvPr id="30" name="TextBox 17"/>
          <p:cNvSpPr txBox="1"/>
          <p:nvPr/>
        </p:nvSpPr>
        <p:spPr>
          <a:xfrm>
            <a:off x="5876329" y="4301400"/>
            <a:ext cx="23198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/>
              <a:t>Thông</a:t>
            </a:r>
            <a:r>
              <a:rPr lang="en-US" sz="2000" dirty="0"/>
              <a:t> </a:t>
            </a:r>
            <a:r>
              <a:rPr lang="en-US" sz="2000" dirty="0" err="1" smtClean="0"/>
              <a:t>báo</a:t>
            </a:r>
            <a:r>
              <a:rPr lang="en-US" sz="2000" dirty="0" smtClean="0"/>
              <a:t> </a:t>
            </a:r>
            <a:r>
              <a:rPr lang="en-US" sz="2000" dirty="0" err="1" smtClean="0"/>
              <a:t>kịp</a:t>
            </a:r>
            <a:r>
              <a:rPr lang="en-US" sz="2000" dirty="0" smtClean="0"/>
              <a:t> </a:t>
            </a:r>
            <a:r>
              <a:rPr lang="en-US" sz="2000" dirty="0" err="1" smtClean="0"/>
              <a:t>thời</a:t>
            </a:r>
            <a:endParaRPr lang="en-US" sz="2000" i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32" name="TextBox 17"/>
          <p:cNvSpPr txBox="1"/>
          <p:nvPr/>
        </p:nvSpPr>
        <p:spPr>
          <a:xfrm>
            <a:off x="6351533" y="2347853"/>
            <a:ext cx="26052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 smtClean="0"/>
              <a:t>Đơn</a:t>
            </a:r>
            <a:r>
              <a:rPr lang="en-US" sz="2000" dirty="0" smtClean="0"/>
              <a:t> </a:t>
            </a:r>
            <a:r>
              <a:rPr lang="en-US" sz="2000" dirty="0" err="1" smtClean="0"/>
              <a:t>giản</a:t>
            </a:r>
            <a:r>
              <a:rPr lang="en-US" sz="2000" dirty="0" smtClean="0"/>
              <a:t> </a:t>
            </a:r>
            <a:r>
              <a:rPr lang="en-US" sz="2000" dirty="0" err="1" smtClean="0"/>
              <a:t>dễ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endParaRPr lang="en-US" sz="2000" i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07103" y="1397439"/>
            <a:ext cx="24785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 smtClean="0"/>
              <a:t>Cung</a:t>
            </a:r>
            <a:r>
              <a:rPr lang="en-US" sz="2000" dirty="0" smtClean="0"/>
              <a:t> </a:t>
            </a:r>
            <a:r>
              <a:rPr lang="en-US" sz="2000" dirty="0" err="1" smtClean="0"/>
              <a:t>cấp</a:t>
            </a:r>
            <a:r>
              <a:rPr lang="en-US" sz="2000" dirty="0" smtClean="0"/>
              <a:t> </a:t>
            </a:r>
            <a:r>
              <a:rPr lang="en-US" sz="2000" dirty="0" err="1" smtClean="0"/>
              <a:t>kiến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endParaRPr lang="en-US" sz="2000" i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TextBox 8"/>
          <p:cNvSpPr txBox="1">
            <a:spLocks noChangeArrowheads="1"/>
          </p:cNvSpPr>
          <p:nvPr/>
        </p:nvSpPr>
        <p:spPr bwMode="auto">
          <a:xfrm>
            <a:off x="624862" y="1436529"/>
            <a:ext cx="8297863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2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000" dirty="0"/>
              <a:t> </a:t>
            </a:r>
            <a:r>
              <a:rPr lang="en-US" sz="2000" dirty="0" err="1"/>
              <a:t>Vườn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minh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bị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minh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nghệ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 smtClean="0"/>
              <a:t>giúp</a:t>
            </a:r>
            <a:r>
              <a:rPr lang="en-US" sz="2000" dirty="0" smtClean="0"/>
              <a:t> con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kiệm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sức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trồng</a:t>
            </a:r>
            <a:r>
              <a:rPr lang="en-US" sz="2000" dirty="0"/>
              <a:t> </a:t>
            </a:r>
            <a:r>
              <a:rPr lang="en-US" sz="2000" dirty="0" err="1"/>
              <a:t>rau</a:t>
            </a:r>
            <a:r>
              <a:rPr lang="en-US" sz="2000" dirty="0"/>
              <a:t> </a:t>
            </a:r>
            <a:r>
              <a:rPr lang="en-US" sz="2000" dirty="0" err="1"/>
              <a:t>sạch</a:t>
            </a:r>
            <a:r>
              <a:rPr lang="en-US" sz="2000" dirty="0"/>
              <a:t>, </a:t>
            </a:r>
            <a:r>
              <a:rPr lang="en-US" sz="2000" dirty="0" err="1"/>
              <a:t>cây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gia</a:t>
            </a:r>
            <a:r>
              <a:rPr lang="en-US" sz="2000" dirty="0"/>
              <a:t> </a:t>
            </a:r>
            <a:r>
              <a:rPr lang="en-US" sz="2000" dirty="0" err="1" smtClean="0"/>
              <a:t>đình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Hệ</a:t>
            </a:r>
            <a:r>
              <a:rPr lang="en-US" sz="2000" dirty="0" smtClean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tận</a:t>
            </a:r>
            <a:r>
              <a:rPr lang="en-US" sz="2000" dirty="0"/>
              <a:t> </a:t>
            </a:r>
            <a:r>
              <a:rPr lang="en-US" sz="2000" dirty="0" err="1"/>
              <a:t>hưởng</a:t>
            </a:r>
            <a:r>
              <a:rPr lang="en-US" sz="2000" dirty="0"/>
              <a:t> </a:t>
            </a:r>
            <a:r>
              <a:rPr lang="en-US" sz="2000" dirty="0" err="1"/>
              <a:t>sự</a:t>
            </a:r>
            <a:r>
              <a:rPr lang="en-US" sz="2000" dirty="0"/>
              <a:t> </a:t>
            </a:r>
            <a:r>
              <a:rPr lang="en-US" sz="2000" dirty="0" err="1"/>
              <a:t>tiện</a:t>
            </a:r>
            <a:r>
              <a:rPr lang="en-US" sz="2000" dirty="0"/>
              <a:t> </a:t>
            </a:r>
            <a:r>
              <a:rPr lang="en-US" sz="2000" dirty="0" err="1"/>
              <a:t>nghi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cuộc</a:t>
            </a:r>
            <a:r>
              <a:rPr lang="en-US" sz="2000" dirty="0"/>
              <a:t> </a:t>
            </a:r>
            <a:r>
              <a:rPr lang="en-US" sz="2000" dirty="0" err="1"/>
              <a:t>sống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dễ</a:t>
            </a:r>
            <a:r>
              <a:rPr lang="en-US" sz="2000" dirty="0"/>
              <a:t> </a:t>
            </a:r>
            <a:r>
              <a:rPr lang="en-US" sz="2000" dirty="0" err="1"/>
              <a:t>dàng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 </a:t>
            </a:r>
            <a:r>
              <a:rPr lang="en-US" sz="2000" dirty="0" err="1"/>
              <a:t>đối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khu</a:t>
            </a:r>
            <a:r>
              <a:rPr lang="en-US" sz="2000" dirty="0"/>
              <a:t> </a:t>
            </a:r>
            <a:r>
              <a:rPr lang="en-US" sz="2000" dirty="0" err="1"/>
              <a:t>vườn</a:t>
            </a:r>
            <a:r>
              <a:rPr lang="en-US" sz="2000" dirty="0"/>
              <a:t> </a:t>
            </a:r>
            <a:r>
              <a:rPr lang="en-US" sz="2000" dirty="0" err="1"/>
              <a:t>nhỏ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 smtClean="0"/>
              <a:t>mình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 </a:t>
            </a:r>
            <a:r>
              <a:rPr lang="en-US" sz="2000" dirty="0" err="1" smtClean="0"/>
              <a:t>Chỉ</a:t>
            </a:r>
            <a:r>
              <a:rPr lang="en-US" sz="2000" dirty="0" smtClean="0"/>
              <a:t> </a:t>
            </a:r>
            <a:r>
              <a:rPr lang="en-US" sz="2000" dirty="0" err="1"/>
              <a:t>với</a:t>
            </a:r>
            <a:r>
              <a:rPr lang="en-US" sz="2000" dirty="0"/>
              <a:t> smartphone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 web </a:t>
            </a:r>
            <a:r>
              <a:rPr lang="en-US" sz="2000" dirty="0" err="1"/>
              <a:t>chúng</a:t>
            </a:r>
            <a:r>
              <a:rPr lang="en-US" sz="2000" dirty="0"/>
              <a:t> ta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khiển</a:t>
            </a:r>
            <a:r>
              <a:rPr lang="en-US" sz="2000" dirty="0"/>
              <a:t>, </a:t>
            </a:r>
            <a:r>
              <a:rPr lang="en-US" sz="2000" dirty="0" err="1"/>
              <a:t>giám</a:t>
            </a:r>
            <a:r>
              <a:rPr lang="en-US" sz="2000" dirty="0"/>
              <a:t> </a:t>
            </a:r>
            <a:r>
              <a:rPr lang="en-US" sz="2000" dirty="0" err="1"/>
              <a:t>sát</a:t>
            </a:r>
            <a:r>
              <a:rPr lang="en-US" sz="2000" dirty="0"/>
              <a:t>, </a:t>
            </a:r>
            <a:r>
              <a:rPr lang="en-US" sz="2000" dirty="0" err="1"/>
              <a:t>chăm</a:t>
            </a:r>
            <a:r>
              <a:rPr lang="en-US" sz="2000" dirty="0"/>
              <a:t> </a:t>
            </a:r>
            <a:r>
              <a:rPr lang="en-US" sz="2000" dirty="0" err="1"/>
              <a:t>sóc</a:t>
            </a:r>
            <a:r>
              <a:rPr lang="en-US" sz="2000" dirty="0"/>
              <a:t> </a:t>
            </a:r>
            <a:r>
              <a:rPr lang="en-US" sz="2000" dirty="0" err="1"/>
              <a:t>khu</a:t>
            </a:r>
            <a:r>
              <a:rPr lang="en-US" sz="2000" dirty="0"/>
              <a:t> </a:t>
            </a:r>
            <a:r>
              <a:rPr lang="en-US" sz="2000" dirty="0" err="1"/>
              <a:t>vườn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quý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mình</a:t>
            </a:r>
            <a:r>
              <a:rPr lang="en-US" sz="2000" dirty="0"/>
              <a:t> </a:t>
            </a:r>
            <a:r>
              <a:rPr lang="en-US" sz="2000" dirty="0" err="1"/>
              <a:t>dù</a:t>
            </a:r>
            <a:r>
              <a:rPr lang="en-US" sz="2000" dirty="0"/>
              <a:t> </a:t>
            </a:r>
            <a:r>
              <a:rPr lang="en-US" sz="2000" dirty="0" err="1"/>
              <a:t>đang</a:t>
            </a:r>
            <a:r>
              <a:rPr lang="en-US" sz="2000" dirty="0"/>
              <a:t> ở </a:t>
            </a:r>
            <a:r>
              <a:rPr lang="en-US" sz="2000" dirty="0" err="1"/>
              <a:t>bất</a:t>
            </a:r>
            <a:r>
              <a:rPr lang="en-US" sz="2000" dirty="0"/>
              <a:t> </a:t>
            </a:r>
            <a:r>
              <a:rPr lang="en-US" sz="2000" dirty="0" err="1"/>
              <a:t>cứ</a:t>
            </a:r>
            <a:r>
              <a:rPr lang="en-US" sz="2000" dirty="0"/>
              <a:t> </a:t>
            </a:r>
            <a:r>
              <a:rPr lang="en-US" sz="2000" dirty="0" err="1"/>
              <a:t>nơi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.</a:t>
            </a:r>
          </a:p>
        </p:txBody>
      </p:sp>
      <p:sp>
        <p:nvSpPr>
          <p:cNvPr id="13" name="Hộp_Văn_Bản 12"/>
          <p:cNvSpPr txBox="1"/>
          <p:nvPr/>
        </p:nvSpPr>
        <p:spPr>
          <a:xfrm>
            <a:off x="3605609" y="512079"/>
            <a:ext cx="20008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KẾT LUẬN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14" descr="Kết quả hình ảnh cho smart gard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771028"/>
            <a:ext cx="2842818" cy="170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Kết quả hình ảnh cho io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25144"/>
            <a:ext cx="2307819" cy="164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Kết quả hình ảnh cho smart garde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7"/>
          <a:stretch/>
        </p:blipFill>
        <p:spPr bwMode="auto">
          <a:xfrm>
            <a:off x="6300193" y="4284703"/>
            <a:ext cx="2160240" cy="218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7145" t="12566" r="17666" b="14828"/>
          <a:stretch/>
        </p:blipFill>
        <p:spPr>
          <a:xfrm>
            <a:off x="1763688" y="1484784"/>
            <a:ext cx="5976664" cy="3744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hủ đề của Office">
  <a:themeElements>
    <a:clrScheme name="Văn phò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ăn phòn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157255672</TotalTime>
  <Pages>0</Pages>
  <Words>329</Words>
  <Characters>0</Characters>
  <Application>Microsoft Office PowerPoint</Application>
  <DocSecurity>0</DocSecurity>
  <PresentationFormat>On-screen Show (4:3)</PresentationFormat>
  <Lines>0</Lines>
  <Paragraphs>44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Microsoft YaHei</vt:lpstr>
      <vt:lpstr>宋体</vt:lpstr>
      <vt:lpstr>Arial</vt:lpstr>
      <vt:lpstr>Calibri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Chuẩn bị</vt:lpstr>
      <vt:lpstr>Làm đất, gieo hạt</vt:lpstr>
      <vt:lpstr>Chăm sóc tự động</vt:lpstr>
      <vt:lpstr>Theo dõi từ xa</vt:lpstr>
      <vt:lpstr>Thông báo</vt:lpstr>
      <vt:lpstr>PowerPoint Presentation</vt:lpstr>
      <vt:lpstr>PowerPoint Presentation</vt:lpstr>
      <vt:lpstr>PowerPoint Presentation</vt:lpstr>
    </vt:vector>
  </TitlesOfParts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trình bày của PowerPoint</dc:title>
  <dc:creator>Administrator</dc:creator>
  <cp:lastModifiedBy>KID Kudo Shinichi</cp:lastModifiedBy>
  <cp:revision>46</cp:revision>
  <cp:lastPrinted>1899-12-30T00:00:00Z</cp:lastPrinted>
  <dcterms:created xsi:type="dcterms:W3CDTF">2012-04-20T16:02:50Z</dcterms:created>
  <dcterms:modified xsi:type="dcterms:W3CDTF">2016-11-19T01:25:53Z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1033-8.1.0.3018</vt:lpwstr>
  </property>
</Properties>
</file>